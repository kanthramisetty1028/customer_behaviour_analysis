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ira Mono Medium"/>
      <p:regular r:id="rId17"/>
    </p:embeddedFont>
    <p:embeddedFont>
      <p:font typeface="Fira Mono Medium"/>
      <p:regular r:id="rId18"/>
    </p:embeddedFont>
    <p:embeddedFont>
      <p:font typeface="Fira Sans"/>
      <p:regular r:id="rId19"/>
    </p:embeddedFont>
    <p:embeddedFont>
      <p:font typeface="Fira Sans"/>
      <p:regular r:id="rId20"/>
    </p:embeddedFont>
    <p:embeddedFont>
      <p:font typeface="Fira Sans"/>
      <p:regular r:id="rId21"/>
    </p:embeddedFont>
    <p:embeddedFont>
      <p:font typeface="Fira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F0F1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435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0582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2837617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682365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Comprehensive transactional data analyzed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180582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283761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3328035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Customer demographics and purchase details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180582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50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283761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3328035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Geographic distribution across regions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893493" y="533804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25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8893493" y="6369844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Product Types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893493" y="6860262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Diverse items across four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9185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 Preparation &amp; Cleaning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Light" pitchFamily="34" charset="0"/>
                <a:ea typeface="Fira Mono Light" pitchFamily="34" charset="-122"/>
                <a:cs typeface="Fira Mon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2044"/>
            <a:ext cx="6407944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196352"/>
            <a:ext cx="4420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 Loading &amp; Exploration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Imported dataset using pandas and performed initial structure analysis with summary statistics.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Light" pitchFamily="34" charset="0"/>
                <a:ea typeface="Fira Mono Light" pitchFamily="34" charset="-122"/>
                <a:cs typeface="Fira Mon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022044"/>
            <a:ext cx="6408063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3196352"/>
            <a:ext cx="35705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Imputed 37 missing Review Rating values using median rating by product category.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Light" pitchFamily="34" charset="0"/>
                <a:ea typeface="Fira Mono Light" pitchFamily="34" charset="-122"/>
                <a:cs typeface="Fira Mon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5338763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Created age_group bins and purchase_frequency_days columns for deeper analysis.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Mono Light" pitchFamily="34" charset="0"/>
                <a:ea typeface="Fira Mono Light" pitchFamily="34" charset="-122"/>
                <a:cs typeface="Fira Mon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FF6BD8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5338763"/>
            <a:ext cx="34005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Connected to PostgreSQL and loaded cleaned data for SQL business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Revenue Insights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510242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Gender Revenue Comparison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 total revenue, significantly outpacing female customers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914808"/>
            <a:ext cx="7604284" cy="35957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205883"/>
            <a:ext cx="428613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Age Group Performance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485798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Young Adults lead revenue generation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$62,143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followed closely by Middle-aged customers at $59,197.</a:t>
            </a:r>
            <a:endParaRPr lang="en-US" sz="17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5268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Customer Segmentation Analysis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10401"/>
            <a:ext cx="3664744" cy="2032754"/>
          </a:xfrm>
          <a:prstGeom prst="roundRect">
            <a:avLst>
              <a:gd name="adj" fmla="val 1674"/>
            </a:avLst>
          </a:prstGeom>
          <a:solidFill>
            <a:srgbClr val="2E2E2F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927634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3,116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(80%) form the core base with consistent purchase history.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210401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2E2E2F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Returning Buyers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927634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701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(18%) show repeat purchase behavior and growth potential.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699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2E2E2F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1872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83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(2%) represent fresh acquisition opportunities.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5375"/>
            <a:ext cx="102055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Product Performance Highlights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367379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Top-Rated Products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Gloves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- 3.86 average rating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Sandals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- 3.84 average rating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Boots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- 3.82 average rating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- 3.80 average rating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4202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Skirt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- 3.78 average rating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321129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Category Leaders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7323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Clothing: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Blouse, Pants, Shirt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1543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Accessories: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Jewelry, Sunglasses, Belt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85763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Footwear: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Sandals, Shoes, Sneakers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2998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Outerwear: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Jacket, Coat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241" y="615791"/>
            <a:ext cx="10728246" cy="698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Subscription &amp; Discount Behavior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492091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27%</a:t>
            </a:r>
            <a:endParaRPr lang="en-US" sz="4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387" y="1817013"/>
            <a:ext cx="3352681" cy="33526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42204" y="5449014"/>
            <a:ext cx="2849166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Subscription Rate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82241" y="5932289"/>
            <a:ext cx="4169093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1,053 customers with active subscriptions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40504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50%</a:t>
            </a:r>
            <a:endParaRPr lang="en-US" sz="4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17013"/>
            <a:ext cx="3352681" cy="33526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18240" y="5449014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Discount Usage</a:t>
            </a:r>
            <a:endParaRPr lang="en-US" sz="2150" dirty="0"/>
          </a:p>
        </p:txBody>
      </p:sp>
      <p:sp>
        <p:nvSpPr>
          <p:cNvPr id="10" name="Text 6"/>
          <p:cNvSpPr/>
          <p:nvPr/>
        </p:nvSpPr>
        <p:spPr>
          <a:xfrm>
            <a:off x="5230654" y="5932289"/>
            <a:ext cx="4169093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Hat leads with highest discount rate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88918" y="3213854"/>
            <a:ext cx="2749153" cy="558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43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73%</a:t>
            </a:r>
            <a:endParaRPr lang="en-US" sz="4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213" y="1817013"/>
            <a:ext cx="3352681" cy="33526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66653" y="5449014"/>
            <a:ext cx="2793921" cy="34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Non-Subscribers</a:t>
            </a:r>
            <a:endParaRPr lang="en-US" sz="2150" dirty="0"/>
          </a:p>
        </p:txBody>
      </p:sp>
      <p:sp>
        <p:nvSpPr>
          <p:cNvPr id="14" name="Text 9"/>
          <p:cNvSpPr/>
          <p:nvPr/>
        </p:nvSpPr>
        <p:spPr>
          <a:xfrm>
            <a:off x="9679067" y="5932289"/>
            <a:ext cx="4169093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2,847 customers without subscriptions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82241" y="6898719"/>
            <a:ext cx="13065919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Subscribers average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$59.49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per purchase while non-subscribers spend </a:t>
            </a:r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$59.87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Interestingly, 839 customers used discounts but still spent above the average purchase amount.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18636"/>
            <a:ext cx="68037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Shipping Preferences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81043"/>
            <a:ext cx="4196358" cy="2229803"/>
          </a:xfrm>
          <a:prstGeom prst="roundRect">
            <a:avLst>
              <a:gd name="adj" fmla="val 6561"/>
            </a:avLst>
          </a:prstGeom>
          <a:solidFill>
            <a:srgbClr val="0F0F10"/>
          </a:solidFill>
          <a:ln w="30480">
            <a:solidFill>
              <a:srgbClr val="4747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581043"/>
            <a:ext cx="121920" cy="2229803"/>
          </a:xfrm>
          <a:prstGeom prst="roundRect">
            <a:avLst>
              <a:gd name="adj" fmla="val 27907"/>
            </a:avLst>
          </a:prstGeom>
          <a:solidFill>
            <a:srgbClr val="FF6BD8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32875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Average purchase: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6BD8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$60.48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482774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Higher-value orders prefer faster delivery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581043"/>
            <a:ext cx="4196358" cy="2229803"/>
          </a:xfrm>
          <a:prstGeom prst="roundRect">
            <a:avLst>
              <a:gd name="adj" fmla="val 6561"/>
            </a:avLst>
          </a:prstGeom>
          <a:solidFill>
            <a:srgbClr val="0F0F10"/>
          </a:solidFill>
          <a:ln w="30480">
            <a:solidFill>
              <a:srgbClr val="474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581043"/>
            <a:ext cx="121920" cy="2229803"/>
          </a:xfrm>
          <a:prstGeom prst="roundRect">
            <a:avLst>
              <a:gd name="adj" fmla="val 27907"/>
            </a:avLst>
          </a:prstGeom>
          <a:solidFill>
            <a:srgbClr val="FF6BD8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3838337"/>
            <a:ext cx="28904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65696" y="432875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Average purchase: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$58.46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5565696" y="482774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Most common choice for regular orders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581043"/>
            <a:ext cx="4196358" cy="2229803"/>
          </a:xfrm>
          <a:prstGeom prst="roundRect">
            <a:avLst>
              <a:gd name="adj" fmla="val 6561"/>
            </a:avLst>
          </a:prstGeom>
          <a:solidFill>
            <a:srgbClr val="0F0F10"/>
          </a:solidFill>
          <a:ln w="30480">
            <a:solidFill>
              <a:srgbClr val="474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9653" y="3581043"/>
            <a:ext cx="121920" cy="2229803"/>
          </a:xfrm>
          <a:prstGeom prst="roundRect">
            <a:avLst>
              <a:gd name="adj" fmla="val 27907"/>
            </a:avLst>
          </a:prstGeom>
          <a:solidFill>
            <a:srgbClr val="FF6BD8"/>
          </a:solidFill>
          <a:ln/>
        </p:spPr>
      </p:sp>
      <p:sp>
        <p:nvSpPr>
          <p:cNvPr id="15" name="Text 13"/>
          <p:cNvSpPr/>
          <p:nvPr/>
        </p:nvSpPr>
        <p:spPr>
          <a:xfrm>
            <a:off x="9988868" y="3838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Free Shipping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4328755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Most popular option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675 orders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988868" y="482774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Strong driver of purchase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19393"/>
            <a:ext cx="71439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Key Dashboard Metrics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2E2E2F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6BD8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5182195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3.9K Customers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639282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Total customer base analyzed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2E2E2F"/>
          </a:solidFill>
          <a:ln/>
        </p:spPr>
      </p:sp>
      <p:sp>
        <p:nvSpPr>
          <p:cNvPr id="10" name="Shape 6"/>
          <p:cNvSpPr/>
          <p:nvPr/>
        </p:nvSpPr>
        <p:spPr>
          <a:xfrm>
            <a:off x="5443776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6BD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0942" y="5182195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3776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$59.76 Average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43776" y="639282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Mean purchase amount per transaction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4768334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2E2E2F"/>
          </a:solidFill>
          <a:ln/>
        </p:spPr>
      </p:sp>
      <p:sp>
        <p:nvSpPr>
          <p:cNvPr id="15" name="Shape 10"/>
          <p:cNvSpPr/>
          <p:nvPr/>
        </p:nvSpPr>
        <p:spPr>
          <a:xfrm>
            <a:off x="9866948" y="49951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6BD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54114" y="5182195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6948" y="590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3.75 Rating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866948" y="639282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Average customer review score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8504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BF3FA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Strategic Recommendations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3230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Promote exclusive benefits to convert the 73% non-subscriber base and increase recurring revenue.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42506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Customer 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Reward repeat buyers to move 701 returning customers into the loyal segment.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37405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Balance sales boosts with margin control, especially for high-discount products like hats.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30605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Fira Mono Medium" pitchFamily="34" charset="0"/>
                <a:ea typeface="Fira Mono Medium" pitchFamily="34" charset="-122"/>
                <a:cs typeface="Fira Mono Medium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Focus on high-revenue age groups and express-shipping users for maximum ROI.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2025-11-17T05:58:14Z</dcterms:created>
  <dcterms:modified xsi:type="dcterms:W3CDTF">2025-11-17T05:58:14Z</dcterms:modified>
</cp:coreProperties>
</file>